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 0 (Alta)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Prim_H</c:v>
                  </c:pt>
                  <c:pt idx="1">
                    <c:v>Prim_M</c:v>
                  </c:pt>
                  <c:pt idx="2">
                    <c:v>SecBaja_H</c:v>
                  </c:pt>
                  <c:pt idx="3">
                    <c:v>SecBaja_M</c:v>
                  </c:pt>
                  <c:pt idx="4">
                    <c:v>SecAlta_H</c:v>
                  </c:pt>
                  <c:pt idx="5">
                    <c:v>SecAlta_M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105.4</c:v>
                </c:pt>
                <c:pt idx="1">
                  <c:v>104.3</c:v>
                </c:pt>
                <c:pt idx="2">
                  <c:v>100.7</c:v>
                </c:pt>
                <c:pt idx="3">
                  <c:v>100.9</c:v>
                </c:pt>
                <c:pt idx="4">
                  <c:v>87.4</c:v>
                </c:pt>
                <c:pt idx="5">
                  <c:v>91.8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 1 (Baja)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Prim_H</c:v>
                  </c:pt>
                  <c:pt idx="1">
                    <c:v>Prim_M</c:v>
                  </c:pt>
                  <c:pt idx="2">
                    <c:v>SecBaja_H</c:v>
                  </c:pt>
                  <c:pt idx="3">
                    <c:v>SecBaja_M</c:v>
                  </c:pt>
                  <c:pt idx="4">
                    <c:v>SecAlta_H</c:v>
                  </c:pt>
                  <c:pt idx="5">
                    <c:v>SecAlta_M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103.4</c:v>
                </c:pt>
                <c:pt idx="1">
                  <c:v>95.7</c:v>
                </c:pt>
                <c:pt idx="2">
                  <c:v>53.9</c:v>
                </c:pt>
                <c:pt idx="3">
                  <c:v>47.4</c:v>
                </c:pt>
                <c:pt idx="4">
                  <c:v>32.6</c:v>
                </c:pt>
                <c:pt idx="5">
                  <c:v>29.1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Varianza Explicada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PC4-PC6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62.3</c:v>
                </c:pt>
                <c:pt idx="1">
                  <c:v>29</c:v>
                </c:pt>
                <c:pt idx="2">
                  <c:v>6.3</c:v>
                </c:pt>
                <c:pt idx="3">
                  <c:v>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Varianza Acumulada %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PC4-PC6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62.3</c:v>
                </c:pt>
                <c:pt idx="1">
                  <c:v>91.3</c:v>
                </c:pt>
                <c:pt idx="2">
                  <c:v>97.6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MAESTRÍA EN INTELIGENCIA ARTIFICIAL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0B4C8"/>
                </a:solidFill>
              </a:rPr>
              <a:t>Aprendizaje Automático — Modelos No Supervisados · Grupo Nº 5 · 2025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Agrupamiento de Países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por Perfil Educativo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2C39A"/>
                </a:solidFill>
              </a:rPr>
              <a:t>Análisis comparativo: K-Means · DBSCAN · PCA · t-SNE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82880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207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Países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3246120"/>
            <a:ext cx="182880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23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Años (2000–2022)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182880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Indicadores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3246120"/>
            <a:ext cx="182880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751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Modelos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8099"/>
                </a:solidFill>
              </a:rPr>
              <a:t>Angulo · Figallo · Maldonado · Noboa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4526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8099"/>
                </a:solidFill>
              </a:rPr>
              <a:t>Fuente: UNESCO Institute for Statistics (UIS)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PREGUNTA DE INVESTIGACIÓN Y OBJETIVOS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0972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6868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¿Es posible identificar grupos naturales de países con perfiles educativos similares, y cómo difieren los patrones encontrados según el método de aprendizaje no supervisado utilizado?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48840"/>
            <a:ext cx="4572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488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Construir perfil educativo multidimensional por país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9864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98648"/>
            <a:ext cx="4572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9864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89864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Identificar grupos similares con K-Means y DBSCAN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4845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48456"/>
            <a:ext cx="4572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4845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64845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Analizar varianza con PCA (reducción dimensional)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148840"/>
            <a:ext cx="4572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488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1488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Validar coherencia visual con t-SNE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89864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898648"/>
            <a:ext cx="45720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89864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289864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Comparar los 4 métodos y sus estructuras detectadas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 Y ANÁLISIS EXPLORATORIO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Fuente de Datos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Institución: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64208" y="1261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UNESCO Institute for Statistics (UIS)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550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Cobertura: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64208" y="165506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210 países · 2000–2022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Registros: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64208" y="20482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5.765 observaciones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414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Formato: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64208" y="24414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Long format → pivotado a wide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Indicadores: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64208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Matrícula bruta primaria y secundaria por género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27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Variables: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64208" y="3227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Prim_H, Prim_M, SecBaja_H, SecBaja_M, SecAlta_H, SecAlta_M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621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Imputación: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4208" y="36210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Mediana global (mínimo 4/6 features)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0142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Escala: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64208" y="40142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StandardScaler (media=0, σ=1)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4840" y="777240"/>
            <a:ext cx="4389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868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Estadísticas Descriptivas de los 6 Indicadores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261872"/>
          <a:ext cx="4206240" cy="3200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00584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Desv.Est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CV (%)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Prim_H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104.9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12.8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Prim_M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14.0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13.7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SecBaja_H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88.7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28.4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SecBaja_M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87.2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27.5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31.5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SecAlta_H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73.4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34.4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46.9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SecAlta_M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75.5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36.7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48.6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320040" y="4709160"/>
            <a:ext cx="850392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ESTRUCTURA DE CORRELACIONES — HALLAZGOS CLAVE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77824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Alta correlación intra-nivel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32588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Entre géneros del mismo nivel educativo: r &gt; 0.85 — los países con mayor matrícula masculina también tienen mayor femenina.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65176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77724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877824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Correlación moderada entre niveles contiguos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64408" y="132588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Secundaria baja ↔ alta: r = 0.73–0.81. El desempeño en un nivel predice parcialmente el siguiente.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9320" y="777240"/>
            <a:ext cx="265176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777240"/>
            <a:ext cx="26517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9048" y="877824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Brecha primaria ↔ sec. alta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9048" y="132588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r ≈ 0.02–0.26 — Tener alta cobertura primaria no garantiza cobertura en secundaria alta.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Matriz de Correlación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46120"/>
          <a:ext cx="5029200" cy="169164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Prim_H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Prim_M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SecBaj_H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SecBaj_M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SecAlt_H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SecAlt_M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Prim_H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0.91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Prim_M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0.91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0.39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4D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SecBaj_H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0.39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0.97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0.74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6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SecBaj_M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0.42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F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0.97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0.73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0.81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6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SecAlt_H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0.74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0.73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SecAlt_M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0.81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0.96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20040" y="4800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75569"/>
                </a:solidFill>
              </a:rPr>
              <a:t>Intensidad de color = fuerza de correlación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577840" y="2944368"/>
            <a:ext cx="3246120" cy="2057400"/>
          </a:xfrm>
          <a:prstGeom prst="rect">
            <a:avLst/>
          </a:prstGeom>
          <a:solidFill>
            <a:srgbClr val="EEF7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30358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💡 Hallazgo estructural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69280" y="3401568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La dimensión que más diferencia a los países NO es la educación primaria (casi universal), sino la cobertura de secundaria — especialmente la secundaria alta.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K-MEANS CLUSTERING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017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Selección Óptima de k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2834640" cy="1463040"/>
        </p:xfrm>
        <a:graphic>
          <a:graphicData uri="http://schemas.openxmlformats.org/drawingml/2006/table">
            <a:tbl>
              <a:tblPr/>
              <a:tblGrid>
                <a:gridCol w="944880"/>
                <a:gridCol w="944880"/>
                <a:gridCol w="9448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Inercia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Silhouette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 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717.1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0.4833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522.3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0.4355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0.2645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385.2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0.2937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2724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k=2 obtiene el Silhouette Score más alto. Inicialización: k-means++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11480" y="3246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Perfiles de Clusters (k=2)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3566160"/>
            <a:ext cx="28346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Cluster 0 — Alta Cobertura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38404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N=154 países (74%)  ·  Primaria~105%  ·  SecBaja~101%  ·  SecAlta~87%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1480" y="4462272"/>
            <a:ext cx="2834640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480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Cluster 1 — Baja Cobertura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47365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N=53 países (26%)  ·  Primaria~103%  ·  SecBaja~51%  ·  SecAlta~32%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520440" y="777240"/>
            <a:ext cx="5303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868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Comparación de Centroides por Indicador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11880" y="1188720"/>
          <a:ext cx="5120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DBSCAN — CLUSTERING BASADO EN DENSIDAD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Grid Search de Parámetros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3931920" cy="164592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min_samples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 Ruido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Silhouette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1.1 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0.5328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0.5219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0.5105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291840"/>
            <a:ext cx="1920240" cy="1554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3383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2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20040" y="4114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Clusters genuinos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77440" y="3291840"/>
            <a:ext cx="1920240" cy="1554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77440" y="3383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31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2377440" y="4114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Países outliers (ruido)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777240"/>
            <a:ext cx="42062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Países identificados como RUIDO (outliers)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09160" y="1261872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64024" y="126187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Afganistán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720840" y="1261872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75704" y="126187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Australia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09160" y="1700784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64024" y="17007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Bélgica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720840" y="1700784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75704" y="170078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Burundi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09160" y="2139696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64024" y="21396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Rep. Centroafricana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720840" y="2139696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75704" y="21396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Eritrea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09160" y="2578608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64024" y="25786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Gambia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720840" y="2578608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75704" y="257860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Madagascar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09160" y="3017520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64024" y="3017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Malawi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720840" y="3017520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75704" y="301752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Mozambique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709160" y="3456432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64024" y="34564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Níger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720840" y="3456432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75704" y="34564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Ruanda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709160" y="3895344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64024" y="38953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Sierra Leona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720840" y="3895344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75704" y="38953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Somalia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709160" y="4334256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64024" y="43342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Sudán del Sur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720840" y="4334256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75704" y="43342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Uganda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709160" y="4773168"/>
            <a:ext cx="1874520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64024" y="477316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Zambia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709160" y="4572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Perfiles extremadamente atípicos o micro-territorios sin datos suficientes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PCA — ANÁLISIS DE COMPONENTES PRINCIPALES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029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Varianza Explicada por Componente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18872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777240"/>
            <a:ext cx="3291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868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Loadings Principales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188720"/>
          <a:ext cx="3108960" cy="1920240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PC1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PC2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Prim_H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+0.180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+0.693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Prim_M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+0.278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+0.620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SecBaja_H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+0.484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-0.076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SecBaja_M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+0.486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-0.067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SecAlta_H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+0.445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-0.268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SecAlta_M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+0.471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-0.231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623560" y="3218688"/>
            <a:ext cx="3108960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1500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PC1 — Desarrollo educativo general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715000" y="35112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EF8"/>
                </a:solidFill>
              </a:rPr>
              <a:t>Carga alta en Secundaria (0.44–0.49) · 62.3% varianza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623560" y="4023360"/>
            <a:ext cx="3108960" cy="7132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4050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PC2 — Brecha primaria vs. secundaria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715000" y="4315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C4E0"/>
                </a:solidFill>
              </a:rPr>
              <a:t>(+) Primaria ·  (−) Secundaria alta · 29.0% varianza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1148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</a:rPr>
              <a:t>91.3%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411480" y="38587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varianza explicada con solo 2 componentes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t-SNE — VALIDACIÓN VISUAL NO LINEAL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840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Parámetros Utilizados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Perplexity: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09928" y="12252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30 (recomendación autores originales)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Learning rate: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09928" y="15544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200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Max iterations: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09928" y="18836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1.000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Random state: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09928" y="22128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42 (reproducibilidad)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542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</a:rPr>
              <a:t>Evaluado: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09928" y="25420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perp = 10, 30, 50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3840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Rol en el Análisis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56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Validar separación geométrica de clusters K-Means y DBSCAN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Detectar posibles subclusters no capturados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611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Visualizar outliers DBSCAN en márgenes del espacio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777240"/>
            <a:ext cx="4480560" cy="4069080"/>
          </a:xfrm>
          <a:prstGeom prst="rect">
            <a:avLst/>
          </a:prstGeom>
          <a:solidFill>
            <a:srgbClr val="1A1F2E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8686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4DC"/>
                </a:solidFill>
              </a:rPr>
              <a:t>Representación esquemática t-SNE (perp=30)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2743200" cy="2011680"/>
          </a:xfrm>
          <a:prstGeom prst="ellipse">
            <a:avLst/>
          </a:prstGeom>
          <a:solidFill>
            <a:srgbClr val="0D9488">
              <a:alpha val="4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Cluster 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Alta Cobertura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154 países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0720" y="3108960"/>
            <a:ext cx="1645920" cy="1097280"/>
          </a:xfrm>
          <a:prstGeom prst="ellipse">
            <a:avLst/>
          </a:prstGeom>
          <a:solidFill>
            <a:srgbClr val="F97316">
              <a:alpha val="45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32461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Cluster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Baja Cobertura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53 países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17720" y="1188720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0" y="1005840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4389120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58200" y="4206240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960120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95360" y="2743200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4572000"/>
            <a:ext cx="4297680" cy="201168"/>
          </a:xfrm>
          <a:prstGeom prst="rect">
            <a:avLst/>
          </a:prstGeom>
          <a:solidFill>
            <a:srgbClr val="2A1F00"/>
          </a:solidFill>
          <a:ln w="12700">
            <a:solidFill>
              <a:srgbClr val="85640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62272" y="45720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C107"/>
                </a:solidFill>
              </a:rPr>
              <a:t>⚠  Las distancias entre clusters en t-SNE no son cuantitativamente interpretables — solo informa sobre separabilidad local.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EVALUACIÓN COMPARATIVA DE MÉTODOS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Métricas de Clustering — K-Means vs DBSCAN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59436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828800"/>
                <a:gridCol w="21945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Silhouette ↑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Davies-Bouldin 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Calinski-Harabasz ↑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K-Means (k=2)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0.4833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0.9533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150.04 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DBSCAN (eps=1.1)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C39A"/>
                          </a:solidFill>
                        </a:rPr>
                        <a:t>0.5328 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C39A"/>
                          </a:solidFill>
                        </a:rPr>
                        <a:t>0.5764 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72.38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18745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Tabla Comparativa Completa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176272"/>
          <a:ext cx="832104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64592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Dimensión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K-Means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DBSCAN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PCA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t-SNE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79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Tipo de método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Clustering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Clustering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Reducción dim.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Reducción dim.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Produce clusters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Sí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Sí + ruido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Requiere K a priori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Sí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Detecta outliers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No (asigna)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Sí (etiqueta -1)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Parcial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Visual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Interpretabilidad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Alta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Media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Alta (loadings)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Baja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Escalabilidad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Alta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Media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Alta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Baja O(n²)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PERFILES EDUCATIVOS IDENTIFICADOS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0116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Cluster 0 — Alta Cobertura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154 países · 74%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📍 Europa · América Latina · Asia Oriental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Primaria ~105%  ·  SecBaja ~101%  ·  SecAlta 87–92%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Sistema educativo sólido con fuerte cobertura en todos los niveles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8503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212848"/>
            <a:ext cx="201168" cy="1261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Cluster 1 — Baja Cobertura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304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53 países · 26%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📍 África Subsahariana · Asia Meridional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852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Primaria ~103%  ·  SecBaja ~51%  ·  SecAlta 29–33%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127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La caída se produce en la transición hacia la educación secundaria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602736"/>
            <a:ext cx="8503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602736"/>
            <a:ext cx="201168" cy="12618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Outliers DBSCAN — Ruido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3694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31 países · 15%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9867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📍 Dispersos globalmente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42428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Perfiles únicos: extremos o micro-territorios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5171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 se asimilan a ningún cluster — requieren análisis individual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983480"/>
            <a:ext cx="850392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CONCLUSIONES PRINCIPALES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321040" cy="896112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138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✅ Respuesta a la pregunta de investigación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SÍ — Los 4 métodos convergen en identificar una estructura real. Silhouette 0.48–0.53 y PCA con 91.3% varianza en 2 componentes.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73936"/>
            <a:ext cx="8321040" cy="896112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379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📍 La brecha NO está en primaria, sino en secundaria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2140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Ambos clusters tienen cobertura primaria similar (~103–105%). El diferenciador clave es la transición a la educación secundaria.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98064"/>
            <a:ext cx="8321040" cy="896112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620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⚙️ K-Means vs DBSCAN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4553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DBSCAN supera en Silhouette (0.5328 vs 0.4833) y Davies-Bouldin (0.5764 vs 0.9533). K-Means lidera en Calinski-Harabasz (150 vs 72). Ambos detectan la misma estructura.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22192"/>
            <a:ext cx="8321040" cy="896112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86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🔎 Outliers informativos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1696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0"/>
                </a:solidFill>
              </a:rPr>
              <a:t>31 países con perfiles genuinamente atípicos: Somalia (cobertura extrema baja), Australia/Bélgica (micro-estados y patrones únicos).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LIMITACIONES · TRABAJO FUTURO · REFERENCIAS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41148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863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⚠ Limitaciones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—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Datos faltantes imputados con medianas (suaviza diferencias)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—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Tasas brutas vs. netas (pueden superar 100%)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—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PCA asume relaciones lineales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—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Solo 6 variables educativas (sin PISA, inversión pública)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160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78638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🔭 Trabajo Futuro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Hierarchical Clustering para explorar subestructuras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6093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Gaussian Mixture Models (clusters elípticos)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029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Integrar datos socioeconómicos (PIB, IDH)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4505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Análisis temporal 2000–2022 de evolución de clusters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8712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Estudio detallado de los 31 outliers DBSCAN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91840"/>
            <a:ext cx="8503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649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Referencias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· UNESCO Institute for Statistics (UIS). (2023). UNESCO statistics database. Montreal: UNESCO.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8953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· Pedregosa et al. (2011). Scikit-learn: Machine Learning in Python. JMLR, 12, 2825–2830.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1330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· Ester et al. (1996). DBSCAN: A density-based algorithm for discovering clusters. KDD Proceedings.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43708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· van der Maaten &amp; Hinton (2008). Visualizing data using t-SNE. JMLR, 9, 2579–2605.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6085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· Rousseeuw (1987). Silhouettes: A graphical aid for cluster analysis. J. Comp. Appl. Math., 20, 53–65.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No Supervisados — Datos Educativos UNESCO</dc:title>
  <dc:subject>PptxGenJS Presentation</dc:subject>
  <dc:creator>PptxGenJS</dc:creator>
  <cp:lastModifiedBy>PptxGenJS</cp:lastModifiedBy>
  <cp:revision>1</cp:revision>
  <dcterms:created xsi:type="dcterms:W3CDTF">2026-05-13T07:53:18Z</dcterms:created>
  <dcterms:modified xsi:type="dcterms:W3CDTF">2026-05-13T07:53:18Z</dcterms:modified>
</cp:coreProperties>
</file>